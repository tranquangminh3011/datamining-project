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HỌC VIỆN CÔNG NGHỆ BƯU CHÍNH VIỄN THÔNG</a:t>
            </a:r>
            <a:br/>
            <a:r>
              <a:t>KHOA CÔNG NGHỆ THÔNG TIN 1 · BỘ MÔN HỆ THỐNG THÔNG TIN</a:t>
            </a:r>
          </a:p>
          <a:p>
            <a:pPr>
              <a:spcBef>
                <a:spcPts val="1800"/>
              </a:spcBef>
              <a:defRPr sz="1500" b="1">
                <a:solidFill>
                  <a:srgbClr val="10B981"/>
                </a:solidFill>
              </a:defRPr>
            </a:pPr>
            <a:r>
              <a:t>BÁO CÁO BÀI TẬP LỚN MÔN KHO DỮ LIỆU &amp; KHAI PHÁ DỮ LIỆU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XÂY DỰNG KHO DỮ LIỆU VÀ PHÂN TÍCH BUSINESS INTELLIGENCE</a:t>
            </a:r>
            <a:br/>
            <a:r>
              <a:t>THƯƠNG MẠI ĐIỆN TỬ ĐA NGUỒN</a:t>
            </a:r>
          </a:p>
          <a:p>
            <a:pPr>
              <a:spcBef>
                <a:spcPts val="2000"/>
              </a:spcBef>
              <a:defRPr sz="1300">
                <a:solidFill>
                  <a:srgbClr val="CBD5E1"/>
                </a:solidFill>
              </a:defRPr>
            </a:pPr>
            <a:r>
              <a:t>Chuẩn đầu ra đánh giá: CLO1 (45%) · CLO2 (45%) · CLO3 (10%)</a:t>
            </a:r>
            <a:br/>
            <a:r>
              <a:t>Giảng viên hướng dẫn: Bộ môn Hệ thống Thông tin | Thời lượng thuyết trình: 15 Phút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1: BỐI CẢNH &amp; MỤC TIÊU (2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1. Câu Hỏi Nghiệp Vụ &amp; Bối Cảnh Thực Tế Sàn TMĐT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2/15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7091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50">
                <a:solidFill>
                  <a:srgbClr val="0F172A"/>
                </a:solidFill>
              </a:defRPr>
            </a:pPr>
            <a:r>
              <a:t>Vấn đề kỹ thuật: CSDL Giao Dịch (OLTP) vs Kho Dữ Liệu (DWH)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Giới hạn của OLTP 3NF truyền thống:</a:t>
            </a:r>
            <a:br/>
            <a:r>
              <a:t>  - Thiết kế tối ưu cho ghi đơn hàng, khóa bảng liên tục.</a:t>
            </a:r>
            <a:br/>
            <a:r>
              <a:t>  - Khi chạy các truy vấn tổng hợp doanh thu lớn, gây nghẽn cổ chai và sập luồng bán hàng.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Vai trò thiết yếu của Kho dữ liệu (DWH):</a:t>
            </a:r>
            <a:br/>
            <a:r>
              <a:t>  - Mô hình Kimball Star Schema tách biệt phân tích khỏi vận hành.</a:t>
            </a:r>
            <a:br/>
            <a:r>
              <a:t>  - Lưu trữ lịch sử đa chiều, tăng tốc tổng hợp đa cấp độ từ O(N) thành O(1).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212080" cy="470916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50">
                <a:solidFill>
                  <a:srgbClr val="0F172A"/>
                </a:solidFill>
              </a:defRPr>
            </a:pPr>
            <a:r>
              <a:t>3 Câu Hỏi Nghiệp Vụ Cần Giải Quyết Bằng DWH &amp; Khai Phá</a:t>
            </a:r>
          </a:p>
          <a:p>
            <a:pPr>
              <a:spcBef>
                <a:spcPts val="800"/>
              </a:spcBef>
              <a:defRPr b="1" sz="1150">
                <a:solidFill>
                  <a:srgbClr val="2563EB"/>
                </a:solidFill>
              </a:defRPr>
            </a:pPr>
            <a:r>
              <a:t>• Câu hỏi 1 (Kinh doanh &amp; Ngành hàng):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Doanh thu biến động thế nào theo Năm, Quý, Tháng? Nhóm sản phẩm nào đóng góp doanh thu chủ đạo để chủ động kế hoạch nhập hàng?</a:t>
            </a:r>
          </a:p>
          <a:p>
            <a:pPr>
              <a:spcBef>
                <a:spcPts val="800"/>
              </a:spcBef>
              <a:defRPr b="1" sz="1150">
                <a:solidFill>
                  <a:srgbClr val="2563EB"/>
                </a:solidFill>
              </a:defRPr>
            </a:pPr>
            <a:r>
              <a:t>• Câu hỏi 2 (Chăm sóc Khách hàng CRM):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Những nhóm khách hàng nào là VIP (Champions) đóng góp trên 50% doanh thu? Nhóm nào đang có nguy cơ rời bỏ (At Risk) cần kích cầu?</a:t>
            </a:r>
          </a:p>
          <a:p>
            <a:pPr>
              <a:spcBef>
                <a:spcPts val="800"/>
              </a:spcBef>
              <a:defRPr b="1" sz="1150">
                <a:solidFill>
                  <a:srgbClr val="2563EB"/>
                </a:solidFill>
              </a:defRPr>
            </a:pPr>
            <a:r>
              <a:t>• Câu hỏi 3 (Tối ưu Giá trị Đơn hàng AOV):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Khách hàng khi chọn sản phẩm A thì có xu hướng mua kèm sản phẩm B nào nhất? Thiết kế Combo Bundle thế nào để tăng doanh số bán chéo?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2: DỮ LIỆU &amp; TIỀN XỬ LÝ (3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2. Kiến Trúc Thu Thập Dữ Liệu Đa Nguồn &amp; Luồng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b="1" sz="1250">
                <a:solidFill>
                  <a:srgbClr val="2563EB"/>
                </a:solidFill>
              </a:defRPr>
            </a:pPr>
            <a:r>
              <a:t>• Nguồn 1: Amazon Reviews 2023 [Cloud HTTP Streaming]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Dòng dữ liệu tương tác thực tế từ McAuley-Lab (10,000 dòng, 7,067 SP). Cung cấp user_id, rating, review_text, helpful_vote.</a:t>
            </a:r>
          </a:p>
          <a:p>
            <a:pPr>
              <a:spcBef>
                <a:spcPts val="800"/>
              </a:spcBef>
              <a:defRPr b="1" sz="1250">
                <a:solidFill>
                  <a:srgbClr val="10B981"/>
                </a:solidFill>
              </a:defRPr>
            </a:pPr>
            <a:r>
              <a:t>• Nguồn 2: DummyJSON REST API [RESTful Web Service Động]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Thu thập qua HTTP GET có phân trang &amp; Exponential Backoff. Cung cấp 100 User demographics (tuổi, giới tính, địa chỉ) &amp; 50 Carts (194 items).</a:t>
            </a:r>
          </a:p>
          <a:p>
            <a:pPr>
              <a:spcBef>
                <a:spcPts val="800"/>
              </a:spcBef>
              <a:defRPr b="1" sz="1250">
                <a:solidFill>
                  <a:srgbClr val="F59E0B"/>
                </a:solidFill>
              </a:defRPr>
            </a:pPr>
            <a:r>
              <a:t>• Nguồn 3: Open Food Facts API [Crowdsourced REST API v2]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Làm giàu dữ liệu nguyên liệu (ingredients_text) &amp; nhãn dinh dưỡng cho các sản phẩm thịnh hành, phục vụ thuật toán lọc theo nội dung.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1: Sơ đồ kiến trúc tổng thể 4 tầng (Multi-source -&gt; ETL -&gt; DWH Star Schema -&gt; BI &amp; 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2: DỮ LIỆU &amp; TIỀN XỬ LÝ (3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3. Quy Trình Tiền Xử Lý Dữ Liệu &amp; Kiểm Định Toàn Vẹn (100% Passed)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4/15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93776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2563EB"/>
                </a:solidFill>
              </a:defRPr>
            </a:pPr>
            <a:r>
              <a:t>✓ 1. Làm sạch &amp; Chuẩn hóa Amazon Reviews: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Loại bỏ bản ghi rỗng user_id/product_id; ép rating vào đoạn [1.0, 5.0]; chuyển đổi millisecond Unix timestamp thành full_timestamp; khử trùng lặp theo cặp (user_id, product_id).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✓ 2. Ghép nối nhân khẩu học (Entity Resolution):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Tập hợp user_id duy nhất; thực hiện round-robin ánh xạ hồ sơ nhân khẩu học (tuổi, giới tính, thành phố) từ DummyJSON để tạo tập khách hàng hoàn chỉnh.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✓ 3. Tích hợp đặc trưng SP &amp; Bóc tách thời gian: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Hợp nhất Metadata sản phẩm với trường ingredients_text từ Open Food Facts; bóc tách full_timestamp thành time_id (YYYYMMDDHH), ngày, tháng, quý, năm, thứ trong tuần.</a:t>
            </a:r>
          </a:p>
          <a:p>
            <a:pPr>
              <a:spcBef>
                <a:spcPts val="600"/>
              </a:spcBef>
              <a:defRPr b="1" sz="1200">
                <a:solidFill>
                  <a:srgbClr val="10B981"/>
                </a:solidFill>
              </a:defRPr>
            </a:pPr>
            <a:r>
              <a:t>✓ 4. Kiểm định chất lượng tự động (Quality Gate):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Chạy src/etl/validate.py trước khi nạp vào DWH: 100% Khóa chính duy nhất; 0 bản ghi mồ côi (Zero Orphan Records) giữa Fact và 4 bảng Dim.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508760"/>
            <a:ext cx="5486400" cy="470916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Báo Cáo Kiểm Định Chất Lượng Tự Động (src/etl/validate.py)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🟢 Dim_User Validation (6,585 bản ghi):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Khóa PK user_id 100% duy nhất, 0 NULL. Đầy đủ tuổi, giới tính.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🟢 Dim_Product Validation (7,067 bản ghi):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Khóa PK product_id 100% duy nhất. Giá bán &gt; $0.00.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🟢 Dim_Category Validation (3 ngành hàng):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100% Chuẩn hóa danh mục (All Beauty, Appliances, Electronics).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🟢 Dim_Time Validation (8,955 mốc giờ):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Khóa time_id dạng YYYYMMDDHH, đủ thứ, ngày, tháng, quý, năm.</a:t>
            </a:r>
          </a:p>
          <a:p>
            <a:pPr>
              <a:spcBef>
                <a:spcPts val="600"/>
              </a:spcBef>
              <a:defRPr b="1" sz="1100">
                <a:solidFill>
                  <a:srgbClr val="10B981"/>
                </a:solidFill>
              </a:defRPr>
            </a:pPr>
            <a:r>
              <a:t>🟢 Fact_Interactions Gate (9,971 tương tác):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TÍNH TOÀN VẸN THAM CHIẾU: 0 Orphan FK (100% user_id, product_id, time_id đều tồn tại hợp lệ trong các bảng Dim tương ứng).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3: THIẾT KẾ &amp; CÀI ĐẶT KHO DỮ LIỆU (4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4. Thiết Kế Lược Đồ Hình Sao (Ralph Kimball Star Schema)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5/15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• Fact_Interactions (Bảng Sự kiện trung tâm):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  - Quy mô: 9,971 bản ghi tương tác.</a:t>
            </a:r>
            <a:br/>
            <a:r>
              <a:t>  - Độ mịn (Granularity): Mỗi dòng là một hành vi (review, cart, purchase) của 1 user với 1 product tại 1 mốc giờ.</a:t>
            </a:r>
            <a:br/>
            <a:r>
              <a:t>  - Khóa ngoại: user_id, product_id, time_id.</a:t>
            </a:r>
            <a:br/>
            <a:r>
              <a:t>  - Chỉ số: rating_score, helpful_vote, event_type.</a:t>
            </a:r>
          </a:p>
          <a:p>
            <a:pPr>
              <a:spcBef>
                <a:spcPts val="1000"/>
              </a:spcBef>
              <a:defRPr b="1" sz="1300">
                <a:solidFill>
                  <a:srgbClr val="2563EB"/>
                </a:solidFill>
              </a:defRPr>
            </a:pPr>
            <a:r>
              <a:t>• Bốn Bảng Chiều (Dimensions) &amp; Cây Phân Cấp: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- Dim_Time (8,955 dòng): Day -&gt; Month -&gt; Quarter -&gt; Year.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- Dim_Category (3 ngành): All Beauty, Appliances, Electronics.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- Dim_Product (7,067 SP): Product -&gt; Category (Kèm thành phần OFF).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- Dim_User (6,585 KH): User -&gt; City -&gt; Country (Kèm rfm_segment).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r_schema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2: Sơ đồ quan hệ thực thể Lược đồ hình sao (Star Schema ERD) với PK và FK liên kết chuẩn Kimball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3: THIẾT KẾ &amp; CÀI ĐẶT KHO DỮ LIỆU (4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5. Tính Toán Trước Khối Đa Chiều (GROUP BY CUBE &amp; ROLLUP)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6/15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2563EB"/>
                </a:solidFill>
              </a:defRPr>
            </a:pPr>
            <a:r>
              <a:t>1. Khối vw_cube_sales_category_time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Cú pháp: GROUP BY CUBE(c.category_name, t.year, t.quarter)</a:t>
            </a:r>
            <a:br/>
            <a:r>
              <a:t>• Ý nghĩa nghiệp vụ: Tính toán trước doanh số ở mọi tổ hợp cấp độ: (Danh mục, Năm, Quý), (Danh mục, Năm), (Danh mục), (Năm) và Grand Total (Toàn sàn).</a:t>
            </a:r>
            <a:br/>
            <a:r>
              <a:t>• Tối ưu hiệu năng: Biến truy vấn O(N) quét bảng Fact thành O(1) đọc trực tiếp từ Khối tính sẵn.</a:t>
            </a:r>
          </a:p>
          <a:p>
            <a:pPr>
              <a:spcBef>
                <a:spcPts val="1000"/>
              </a:spcBef>
              <a:defRPr b="1" sz="1300">
                <a:solidFill>
                  <a:srgbClr val="10B981"/>
                </a:solidFill>
              </a:defRPr>
            </a:pPr>
            <a:r>
              <a:t>2. Khối vw_cube_customer_segment_geo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• Cú pháp: GROUP BY ROLLUP(u.rfm_segment, u.country, u.city)</a:t>
            </a:r>
            <a:br/>
            <a:r>
              <a:t>• Ý nghĩa nghiệp vụ: Phân tích khách hàng theo cây phân cấp địa lý: Phân khúc -&gt; Quốc gia -&gt; Thành phố sinh sống.</a:t>
            </a:r>
            <a:br/>
            <a:r>
              <a:t>• Phục vụ Marketing: Phân bổ ngân sách khuyến mại chính xác vào các thành phố tập trung khách VIP.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lap_pivo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3: Kết quả tổng hợp đa chiều từ khối tính trước: Roll-up Doanh thu theo Quý &amp; Pivot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4: DỊCH VỤ OLAP &amp; TRỰC QUAN HÓA (4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6. Báo Cáo Hiệu Năng Doanh Nghiệp (Executive BI 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7/15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• 4 Chỉ Số Hiệu Năng Cốt Lõi (DWH KPIs):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Tổng Doanh Thu DWH: </a:t>
            </a:r>
            <a:r>
              <a:rPr b="1">
                <a:solidFill>
                  <a:srgbClr val="10B981"/>
                </a:solidFill>
              </a:rPr>
              <a:t>$199,320.29 USD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Tổng Tương Tác Đơn Hàng: </a:t>
            </a:r>
            <a:r>
              <a:rPr b="1">
                <a:solidFill>
                  <a:srgbClr val="2563EB"/>
                </a:solidFill>
              </a:rPr>
              <a:t>9,971 lượt giao dịch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Tổng Khách Hàng Quản Trị: </a:t>
            </a:r>
            <a:r>
              <a:rPr b="1">
                <a:solidFill>
                  <a:srgbClr val="2563EB"/>
                </a:solidFill>
              </a:rPr>
              <a:t>6,585 người dùng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Đánh Giá Trung Bình Toàn Sàn: </a:t>
            </a:r>
            <a:r>
              <a:rPr b="1">
                <a:solidFill>
                  <a:srgbClr val="2563EB"/>
                </a:solidFill>
              </a:rPr>
              <a:t>4.25 / 5.0 Sao</a:t>
            </a:r>
          </a:p>
          <a:p>
            <a:pPr>
              <a:spcBef>
                <a:spcPts val="800"/>
              </a:spcBef>
              <a:defRPr b="1" sz="1300">
                <a:solidFill>
                  <a:srgbClr val="0F172A"/>
                </a:solidFill>
              </a:defRPr>
            </a:pPr>
            <a:r>
              <a:t>• Phân Tích Xu Hướng &amp; Phễu Chuyển Đổi: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  - Doanh thu theo tháng (vw_sales_monthly_summary) phản ánh nhịp độ mua sắm mùa vụ của khách hàng.</a:t>
            </a:r>
            <a:br/>
            <a:r>
              <a:t>  - Phễu chuyển đổi 4 tầng: Tiếp cận (6,585 Users) -&gt; Xem SP (7,067 Prods) -&gt; Thêm giỏ (1,394 Carts) -&gt; Đánh giá (9,971 Reviews), cho thấy mức độ gắn kết cao của người dùng.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tab1_b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4: Ảnh chụp thực tế giao diện Streamlit Tab 1 (Báo cáo Hiệu năng Doanh nghiệp &amp; Phễu tương tác)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4: DỊCH VỤ OLAP &amp; TRỰC QUAN HÓA (4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7. Trình Diễn Đủ 5 Thao Tác OLAP Trực Tiếp Trên Web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8/15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2563EB"/>
                </a:solidFill>
              </a:defRPr>
            </a:pPr>
            <a:r>
              <a:t>• 1. ROLL-UP (Thu gọn / Tổng hợp):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Thu gọn từ Tháng -&gt; Quý -&gt; Năm hoặc từ Sản phẩm -&gt; Danh mục để xem tổng doanh số toàn sàn.</a:t>
            </a:r>
          </a:p>
          <a:p>
            <a:pPr>
              <a:spcBef>
                <a:spcPts val="500"/>
              </a:spcBef>
              <a:defRPr b="1" sz="1150">
                <a:solidFill>
                  <a:srgbClr val="10B981"/>
                </a:solidFill>
              </a:defRPr>
            </a:pPr>
            <a:r>
              <a:t>• 2. DRILL-DOWN (Chi tiết hóa):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Đi sâu từ Danh mục sản phẩm (All Beauty) xuống danh sách 15 sản phẩm bán chạy nhất kèm giá bán và rating.</a:t>
            </a:r>
          </a:p>
          <a:p>
            <a:pPr>
              <a:spcBef>
                <a:spcPts val="500"/>
              </a:spcBef>
              <a:defRPr b="1" sz="1150">
                <a:solidFill>
                  <a:srgbClr val="2563EB"/>
                </a:solidFill>
              </a:defRPr>
            </a:pPr>
            <a:r>
              <a:t>• 3. SLICE (Cắt lát đơn):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Cố định 1 chiều: Cắt lát dữ liệu theo Mức Đánh Giá = 5.0 Sao hoặc Cố định Quý 3 để khảo sát đơn hàng hoàn hảo.</a:t>
            </a:r>
          </a:p>
          <a:p>
            <a:pPr>
              <a:spcBef>
                <a:spcPts val="500"/>
              </a:spcBef>
              <a:defRPr b="1" sz="1150">
                <a:solidFill>
                  <a:srgbClr val="10B981"/>
                </a:solidFill>
              </a:defRPr>
            </a:pPr>
            <a:r>
              <a:t>• 4. DICE (Cắt khối đa chiều):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Lọc đồng thời trên 2 chiều: Chiều Thời gian (Năm 2022, 2023) VÀ Chiều Sản phẩm (Khoảng giá từ $10 đến $60).</a:t>
            </a:r>
          </a:p>
          <a:p>
            <a:pPr>
              <a:spcBef>
                <a:spcPts val="500"/>
              </a:spcBef>
              <a:defRPr b="1" sz="1150">
                <a:solidFill>
                  <a:srgbClr val="2563EB"/>
                </a:solidFill>
              </a:defRPr>
            </a:pPr>
            <a:r>
              <a:t>• 5. PIVOT (Xoay ma trận):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Xoay trục hiển thị: Danh mục thành Hàng và Năm thành Cột, hiển thị bảng chéo kèm Heatmap doanh thu.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tab2_olap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5: Ảnh chụp thực tế giao diện Streamlit Tab 2 (Trình diễn trực tiếp 5 thao tác OLAP trên CSDL DWH)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5: CHỨC NĂNG KHAI PHÁ DỮ LIỆU (4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8. Khai Phá Dữ Liệu: Phân Cụm Khách Hàng RFM (K-Means Clustering)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9/15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2563EB"/>
                </a:solidFill>
              </a:defRPr>
            </a:pPr>
            <a:r>
              <a:t>• 1. Vector đặc trưng RFM: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Recency (Số ngày kể từ lần tương tác gần nhất); Frequency (Tổng số lần mua/đánh giá); Monetary (Tổng chi tiêu tích lũy).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2. Chuẩn hóa phân phối chuẩn: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Sử dụng StandardScaler đưa R, F, M có biên độ lệch nhau về cùng thang phân phối chuẩn N(0, 1).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3. Đánh giá số cụm K tối ưu: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Đo lường bằng phương pháp Elbow và Silhouette Score. Đạt đỉnh Silhouette = 0.6393 tại K = 4 (Phản ánh phân tách giữa các cụm rất tốt và cấu trúc đậm đặc).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4. Đóng gói ngược vào DWH (Closed-loop):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Gán nhãn phân cụm tự động vào cột rfm_segment của Dim_User trong PostgreSQL để phục vụ phân tích OLAP tức thì.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fm_clusters_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6: Biểu đồ Tỷ trọng Doanh thu 4 cụm RFM &amp; Đường cong Silhouette Score đạt K=4 tối ưu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5: CHỨC NĂNG KHAI PHÁ DỮ LIỆU (4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9. Chân Dung 4 Phân Khúc Khách Hàng &amp; Chiến Lược Hành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10/15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F59E0B"/>
                </a:solidFill>
              </a:defRPr>
            </a:pPr>
            <a:r>
              <a:t>• 1. Champions (VIP) — 30.2% Doanh thu: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Chi tiêu cao nhất (ARPU $286.65), mua gần nhất. Hành động: Chăm sóc đặc quyền VIP, quà tri ân, quyền mua sớm.</a:t>
            </a:r>
          </a:p>
          <a:p>
            <a:pPr>
              <a:spcBef>
                <a:spcPts val="600"/>
              </a:spcBef>
              <a:defRPr b="1" sz="1150">
                <a:solidFill>
                  <a:srgbClr val="2563EB"/>
                </a:solidFill>
              </a:defRPr>
            </a:pPr>
            <a:r>
              <a:t>• 2. Potential Loyalists — 22.9% Doanh thu: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Mới tương tác gần đây với giá trị đơn triển vọng. Hành động: Tặng voucher đơn hàng thứ 2, gợi ý sản phẩm phù hợp.</a:t>
            </a:r>
          </a:p>
          <a:p>
            <a:pPr>
              <a:spcBef>
                <a:spcPts val="600"/>
              </a:spcBef>
              <a:defRPr b="1" sz="1150">
                <a:solidFill>
                  <a:srgbClr val="10B981"/>
                </a:solidFill>
              </a:defRPr>
            </a:pPr>
            <a:r>
              <a:t>• 3. Loyal Customers — Mua sắm định kỳ: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Mức độ gắn kết cao, đơn hàng đều đặn. Hành động: Tích điểm loyalty, gợi ý ngành hàng mới qua Cross-sell.</a:t>
            </a:r>
          </a:p>
          <a:p>
            <a:pPr>
              <a:spcBef>
                <a:spcPts val="600"/>
              </a:spcBef>
              <a:defRPr b="1" sz="1150">
                <a:solidFill>
                  <a:srgbClr val="F43F5E"/>
                </a:solidFill>
              </a:defRPr>
            </a:pPr>
            <a:r>
              <a:t>• 4. At Risk / Inactive — 47.0% Khách hàng: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Đã lâu không quay lại sàn (Recency lớn). Hành động: Chiến dịch Re-engagement kích cầu, giảm giá sâu tái kích hoạt.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tab3_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7: Ảnh chụp thực tế giao diện Streamlit Tab 3 (Dashboard Phân khúc RFM &amp; Chỉ số ARPU)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5: CHỨC NĂNG KHAI PHÁ DỮ LIỆU (4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10. Khai Phá Luật Kết Hợp Giỏ Hàng (FP-Growth Association Rules)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11/15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10B981"/>
                </a:solidFill>
              </a:defRPr>
            </a:pPr>
            <a:r>
              <a:t>• 1. Dữ liệu giỏ hàng (Market Basket Data):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Kết hợp từ các giỏ hàng thực tế của DummyJSON Carts (194 mặt hàng) và nhóm các sản phẩm được cùng một người dùng mua trên sàn.</a:t>
            </a:r>
          </a:p>
          <a:p>
            <a:pPr>
              <a:spcBef>
                <a:spcPts val="600"/>
              </a:spcBef>
              <a:defRPr b="1" sz="1150">
                <a:solidFill>
                  <a:srgbClr val="10B981"/>
                </a:solidFill>
              </a:defRPr>
            </a:pPr>
            <a:r>
              <a:t>• 2. Thuật toán FP-Growth nén cây FP-Tree: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Khai phá nhanh vượt trội so với Apriori truyền thống vì không phải quét lại CSDL nhiều lần.</a:t>
            </a:r>
          </a:p>
          <a:p>
            <a:pPr>
              <a:spcBef>
                <a:spcPts val="600"/>
              </a:spcBef>
              <a:defRPr b="1" sz="1150">
                <a:solidFill>
                  <a:srgbClr val="10B981"/>
                </a:solidFill>
              </a:defRPr>
            </a:pPr>
            <a:r>
              <a:t>• 3. Bắt buộc kiểm tra chỉ số Độ nâng (Lift) — Slide 25: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Thiết lập ngưỡng min_support = 0.005, min_confidence = 0.1 và min_lift &gt;= 1.1. Trích xuất thành công 7,674 luật kết hợp có Lift lên đến 60.0x!</a:t>
            </a:r>
          </a:p>
          <a:p>
            <a:pPr>
              <a:spcBef>
                <a:spcPts val="600"/>
              </a:spcBef>
              <a:defRPr b="1" sz="1150">
                <a:solidFill>
                  <a:srgbClr val="10B981"/>
                </a:solidFill>
              </a:defRPr>
            </a:pPr>
            <a:r>
              <a:t>• 4. Ứng dụng tạo gói ưu đãi Combo (Bundle Offer):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Ví dụ: Luật [Cat Food, Cricket Ball] =&gt; [Tropical Earring] đạt Lift = 60.0x (Xác suất mua kèm cao gấp 60 lần so với ngẫu nhiên). Ứng dụng ngay vào giảm giá Combo -10%.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tab4_cross_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8: Ảnh chụp thực tế giao diện Streamlit Tab 4 (Khai phá 7,674 luật kết hợp với Lift tới 60x)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5: CHỨC NĂNG KHAI PHÁ DỮ LIỆU (4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11. Đánh Giá Offline Hệ Thống Gợi Ý &amp; So Sánh Mô Hình Cơ Sở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12/15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0F172A"/>
                </a:solidFill>
              </a:defRPr>
            </a:pPr>
            <a:r>
              <a:t>• 1. Temporal Split (Phân chia theo thời gian):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Dữ liệu quá khứ dùng huấn luyện, 20% giao dịch gần nhất dùng kiểm thử trên 874 người dùng (Tránh rò rỉ dữ liệu).</a:t>
            </a:r>
          </a:p>
          <a:p>
            <a:pPr>
              <a:spcBef>
                <a:spcPts val="600"/>
              </a:spcBef>
              <a:defRPr b="1" sz="1150">
                <a:solidFill>
                  <a:srgbClr val="0F172A"/>
                </a:solidFill>
              </a:defRPr>
            </a:pPr>
            <a:r>
              <a:t>• 2. So sánh với Mô hình Cơ sở (Slide 25):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Không báo cáo mô hình đơn lẻ. Đối chiếu đồng thời: Popularity Baseline, TruncatedSVD (CF) và Content-Based (TF-IDF + Open Food Facts).</a:t>
            </a:r>
          </a:p>
          <a:p>
            <a:pPr>
              <a:spcBef>
                <a:spcPts val="600"/>
              </a:spcBef>
              <a:defRPr b="1" sz="1150">
                <a:solidFill>
                  <a:srgbClr val="0F172A"/>
                </a:solidFill>
              </a:defRPr>
            </a:pPr>
            <a:r>
              <a:t>• 3. Kết quả đánh giá xếp hạng tại K = 10: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• Popularity Baseline: Recall@10 = 0.0160 | NDCG@10 = 0.0074 | HitRate = 1.60%</a:t>
            </a:r>
            <a:br/>
            <a:r>
              <a:t>• Content-Based: Recall@10 = 0.0023 | NDCG@10 = 0.0015 | MAP@10 = 0.0013</a:t>
            </a:r>
            <a:br/>
            <a:r>
              <a:t>• SVD (CF): Recall@10 = 0.0034 | NDCG@10 = 0.0015 | HitRate = 0.34%</a:t>
            </a:r>
          </a:p>
          <a:p>
            <a:pPr>
              <a:spcBef>
                <a:spcPts val="600"/>
              </a:spcBef>
              <a:defRPr b="1" sz="1150">
                <a:solidFill>
                  <a:srgbClr val="0F172A"/>
                </a:solidFill>
              </a:defRPr>
            </a:pPr>
            <a:r>
              <a:t>• 4. Nhận định học thuật về Độ thưa (Sparsity = 99.98%):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Dữ liệu TMĐT thực tế cực thưa (1.30 tương tác/user). SVD gặp Cold-Start nặng; Content-Based có lợi thế vượt trội khi tích hợp thành phần Open Food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csys_benchmark_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9: So sánh hiệu năng Offline giữa Popularity Baseline, Content-Based và CF-SVD tại K=10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6: KHUYẾN NGHỊ &amp; HÀNH ĐỘNG (2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12. Ứng Dụng Thực Tế: Gói Ưu Đãi Mua Kèm &amp; Gợi Ý Cá Nhân Hóa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13/15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66344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b="1" sz="1150">
                <a:solidFill>
                  <a:srgbClr val="2563EB"/>
                </a:solidFill>
              </a:defRPr>
            </a:pPr>
            <a:r>
              <a:t>• 1. Tích hợp trực tiếp Luật Kết Hợp vào Giỏ hàng: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Hệ thống tự động tra cứu các luật có Lift cao nhất để đề xuất các sản phẩm mua kèm thường đi cùng.</a:t>
            </a:r>
          </a:p>
          <a:p>
            <a:pPr>
              <a:spcBef>
                <a:spcPts val="600"/>
              </a:spcBef>
              <a:defRPr b="1" sz="1150">
                <a:solidFill>
                  <a:srgbClr val="2563EB"/>
                </a:solidFill>
              </a:defRPr>
            </a:pPr>
            <a:r>
              <a:t>• 2. Gói ưu đãi Combo (Bundle Discount - Tiết kiệm 10%):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Tự động gom Combo sản phẩm liên quan và chiết khấu ngay 10% để kích thích người dùng hoàn tất đơn hàng giá trị cao hơn (Tăng AOV).</a:t>
            </a:r>
          </a:p>
          <a:p>
            <a:pPr>
              <a:spcBef>
                <a:spcPts val="600"/>
              </a:spcBef>
              <a:defRPr b="1" sz="1150">
                <a:solidFill>
                  <a:srgbClr val="2563EB"/>
                </a:solidFill>
              </a:defRPr>
            </a:pPr>
            <a:r>
              <a:t>• 3. Gợi ý cá nhân hóa theo phân khúc RFM: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Khách Champions được gợi ý sản phẩm cao cấp, khách Potential Loyalists được gợi ý các mặt hàng bán chạy nhất.</a:t>
            </a:r>
          </a:p>
          <a:p>
            <a:pPr>
              <a:spcBef>
                <a:spcPts val="600"/>
              </a:spcBef>
              <a:defRPr b="1" sz="1150">
                <a:solidFill>
                  <a:srgbClr val="2563EB"/>
                </a:solidFill>
              </a:defRPr>
            </a:pPr>
            <a:r>
              <a:t>• 4. Trải nghiệm trực quan trên Web Dashboard: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Giao diện Streamlit cho phép người dùng chọn thử bất kỳ sản phẩm nào để xem kết quả tính toán động thời gian thực.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463039"/>
            <a:ext cx="5943600" cy="4754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tab4_bundle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585216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6190488"/>
            <a:ext cx="5852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i="1">
                <a:solidFill>
                  <a:srgbClr val="64748B"/>
                </a:solidFill>
              </a:defRPr>
            </a:pPr>
            <a:r>
              <a:t>Hình 10: Ảnh chụp thực tế các thẻ Gói sản phẩm mua kèm Combo (Bundle Recommendation) trên Web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6: KHUYẾN NGHỊ &amp; HÀNH ĐỘNG (2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13. Tự Động Hóa Vận Hành Bằng Một Lệnh &amp; Hạn Chế Của Nhóm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14/15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70916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50">
                <a:solidFill>
                  <a:srgbClr val="0F172A"/>
                </a:solidFill>
              </a:defRPr>
            </a:pPr>
            <a:r>
              <a:t>✓ Tái Lập 100% Bằng 1 Lệnh Duy Nhất (Slide 12)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Lệnh thực thi: python run_all.py</a:t>
            </a:r>
            <a:br/>
            <a:br/>
            <a:r>
              <a:t>• Toàn bộ 6 giai đoạn tự động chạy khép kín trong &lt; 10 giây:</a:t>
            </a:r>
            <a:br/>
            <a:r>
              <a:t>  1. Khởi tạo cấu trúc Star Schema CSDL (PostgreSQL)</a:t>
            </a:r>
            <a:br/>
            <a:r>
              <a:t>  2. Trích xuất đa nguồn (Amazon, DummyJSON, Open Food Facts)</a:t>
            </a:r>
            <a:br/>
            <a:r>
              <a:t>  3. Tiền xử lý, khử trùng lặp &amp; Quality Gate 100% Passed</a:t>
            </a:r>
            <a:br/>
            <a:r>
              <a:t>  4. Tính toán trước 2 Khối đa chiều (CUBE &amp; ROLLUP)</a:t>
            </a:r>
            <a:br/>
            <a:r>
              <a:t>  5. Huấn luyện K-Means RFM &amp; FP-Growth Market Basket</a:t>
            </a:r>
            <a:br/>
            <a:r>
              <a:t>  6. Tự động khởi chạy Web BI Dashboard trên cổng 8501</a:t>
            </a:r>
            <a:br/>
            <a:br/>
            <a:r>
              <a:t>• Giúp Giảng viên và Hội đồng kiểm chứng kết quả minh bạch tuyệt đối!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212080" cy="4709160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50">
                <a:solidFill>
                  <a:srgbClr val="0F172A"/>
                </a:solidFill>
              </a:defRPr>
            </a:pPr>
            <a:r>
              <a:t>⚠️ Các Hạn Chế Trung Thực Của Đề Tài (Slide 24)</a:t>
            </a:r>
          </a:p>
          <a:p>
            <a:pPr>
              <a:spcBef>
                <a:spcPts val="800"/>
              </a:spcBef>
              <a:defRPr b="1" sz="1100">
                <a:solidFill>
                  <a:srgbClr val="F59E0B"/>
                </a:solidFill>
              </a:defRPr>
            </a:pPr>
            <a:r>
              <a:t>• 1. Giới hạn Rate Limiting của REST API: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Do gọi qua các API công cộng miễn phí (DummyJSON, Open Food Facts), nhóm phải giới hạn tần suất và quy mô mẫu ~10,000 bản ghi để đảm bảo tốc độ demo.</a:t>
            </a:r>
          </a:p>
          <a:p>
            <a:pPr>
              <a:spcBef>
                <a:spcPts val="800"/>
              </a:spcBef>
              <a:defRPr b="1" sz="1100">
                <a:solidFill>
                  <a:srgbClr val="F59E0B"/>
                </a:solidFill>
              </a:defRPr>
            </a:pPr>
            <a:r>
              <a:t>• 2. Độ thưa dữ liệu tương tác cao (99.98%):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Khách hàng Amazon trong tập dữ liệu phần lớn chỉ có 1 tương tác, gây khó khăn cho mô hình phân rã ma trận ẩn SVD (bài toán Cold-Start).</a:t>
            </a:r>
          </a:p>
          <a:p>
            <a:pPr>
              <a:spcBef>
                <a:spcPts val="800"/>
              </a:spcBef>
              <a:defRPr b="1" sz="1100">
                <a:solidFill>
                  <a:srgbClr val="F59E0B"/>
                </a:solidFill>
              </a:defRPr>
            </a:pPr>
            <a:r>
              <a:t>• 3. Môi trường tính toán cục bộ: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DWH hiện tại chạy trên Docker container máy cá nhân, chưa được triển khai trên cụm máy chủ phân tán Cloud (AWS Redshift / Snowflake).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PHẦN 6: KHUYẾN NGHỊ &amp; HÀNH ĐỘNG (2 PHÚT)</a:t>
            </a:r>
          </a:p>
          <a:p>
            <a:pPr>
              <a:spcBef>
                <a:spcPts val="400"/>
              </a:spcBef>
              <a:defRPr sz="2100" b="1">
                <a:solidFill>
                  <a:srgbClr val="0F172A"/>
                </a:solidFill>
              </a:defRPr>
            </a:pPr>
            <a:r>
              <a:t>14. Hướng Phát Triển Mở Rộng &amp; Tổng Kết Đồ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Báo cáo Bài tập lớn INT1422 — Nhóm Đề tài Thương mại điện tử đa nguồn | Slide 15/15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7091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50">
                <a:solidFill>
                  <a:srgbClr val="0F172A"/>
                </a:solidFill>
              </a:defRPr>
            </a:pPr>
            <a:r>
              <a:t>• Hướng Phát Triển Tiếp Theo Trong Thực Tế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1. Streaming Ingestion thời gian thực: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Tích hợp Apache Kafka và Apache Flink để bắt sự kiện tương tác giỏ hàng (Clickstream) theo thời gian thực.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2. Mô hình Deep Learning Recommender: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Thử nghiệm kiến trúc Two-Tower DNN hoặc Graph Neural Networks (GNN) để nắm bắt mối quan hệ phi tuyến tính phức tạp.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3. MLOps Pipeline tự động hóa: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Sử dụng Apache Airflow để lập lịch tự động huấn luyện lại K-Means và FP-Growth định kỳ hàng tuần.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212080" cy="470916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350">
                <a:solidFill>
                  <a:srgbClr val="0F172A"/>
                </a:solidFill>
              </a:defRPr>
            </a:pPr>
            <a:r>
              <a:t>✓ Tóm Tắt Kết Quả Đạt Được (Đối Chiếu Chuẩn Đầu Ra)</a:t>
            </a:r>
          </a:p>
          <a:p>
            <a:pPr>
              <a:spcBef>
                <a:spcPts val="800"/>
              </a:spcBef>
              <a:defRPr b="1" sz="1100">
                <a:solidFill>
                  <a:srgbClr val="10B981"/>
                </a:solidFill>
              </a:defRPr>
            </a:pPr>
            <a:r>
              <a:t>• CLO1 (45%): Kho Dữ Liệu &amp; OLAP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Hoàn thành Lược đồ hình sao (1 Fact + 4 Dim), tính trước 2 Khối đa chiều (CUBE &amp; ROLLUP), trình diễn đầy đủ 5 thao tác OLAP trên giao diện Web.</a:t>
            </a:r>
          </a:p>
          <a:p>
            <a:pPr>
              <a:spcBef>
                <a:spcPts val="800"/>
              </a:spcBef>
              <a:defRPr b="1" sz="1100">
                <a:solidFill>
                  <a:srgbClr val="10B981"/>
                </a:solidFill>
              </a:defRPr>
            </a:pPr>
            <a:r>
              <a:t>• CLO2 (45%): Khai Phá Dữ Liệu &amp; Đánh Giá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Thực hiện thành công 2 bài toán chuẩn: Phân cụm RFM (Silhouette = 0.6393 tại K=4) &amp; Luật kết hợp FP-Growth (7,674 luật, Lift tới 60.0x); Có đánh giá Offline đa mô hình so với Baseline.</a:t>
            </a:r>
          </a:p>
          <a:p>
            <a:pPr>
              <a:spcBef>
                <a:spcPts val="800"/>
              </a:spcBef>
              <a:defRPr b="1" sz="1100">
                <a:solidFill>
                  <a:srgbClr val="10B981"/>
                </a:solidFill>
              </a:defRPr>
            </a:pPr>
            <a:r>
              <a:t>• CLO3 (10%): Kỹ Năng Dự Án &amp; Tự Động Hóa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Vận hành bằng 1 lệnh duy nhất python run_all.py; Quản trị phiên bản Git minh bạch; Báo cáo slide 15 trang chuẩn mực.</a:t>
            </a:r>
          </a:p>
          <a:p>
            <a:pPr algn="ctr">
              <a:spcBef>
                <a:spcPts val="1600"/>
              </a:spcBef>
              <a:defRPr b="1" sz="1200">
                <a:solidFill>
                  <a:srgbClr val="0F172A"/>
                </a:solidFill>
              </a:defRPr>
            </a:pPr>
            <a:r>
              <a:t>NHÓM XIN TRÂN TRỌNG CẢM ƠN THẦY CÔ VÀ HỘI ĐỒNG!</a:t>
            </a:r>
            <a:br/>
            <a:r>
              <a:t>(SẴN SÀNG CHO PHẦN HỎI ĐÁP - 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